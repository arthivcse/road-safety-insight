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business question: where and when do serious road incidents occur, and under what conditions? The next eight slides give the evidence and then the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scale: 5,965 cleaned incidents on 120 roads. More than two thirds were serious or fatal, so the question is not whether to act but where to act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When: incident counts peak at 8 AM and 5 to 7 PM because of traffic volume. Severity is different: late-night hours have few incidents but the highest share of serious and fatal outcomes (84.5% vs 65.5% in the daytime). Night is defined as 22:00 to 04:59.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Where, part one: road type and junctions. Expressways and highways are above 90% severe, local roads about 41%. Junctions are 82% severe against 55% elsewhere, and almost half of all incidents occur at junctions.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Where, part two: specific roads. The top 15 roads out of 120 carry a third of all incidents and 41% of all serious and fatal incidents. R050, R032, R096, R097 and R037 are the first targets: nearly every incident on them is serious or fatal.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Conditions: fog (89.6%) and storm (85.6%) are the worst, rain is at 74.2% and clear weather at 62.2%. Unknown means the weather record was missing in the raw data. Traffic volume has almost no linear link with severity (correlation -0.03), so congestion alone does not explain serious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Random Forest was trained on 15 selected features to predict Minor, Serious or Fatal. Test accuracy was 0.539 and weighted F1 0.536; the 5-fold cross-validated weighted F1 was 0.541. Always predicting the most common class (Serious) would give about 45% accuracy, so the model adds a modest lift. Treat it as support for the descriptive findings, not a precise predictor.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Recommendations. Each action answers one finding: junctions, hotspot roads, night-time risk on fast roads, and low-visibility weather. Peak-hour congestion drives incident volume but not severity, so it is a lower priority for serious-harm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management ask: act first on the hotspot roads and junctions, then night-time speed and lighting, then weather warnings. Each has a simple KPI so progress can be tracked monthly.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812766"/>
            <a:ext cx="10566466" cy="50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1620522"/>
            <a:ext cx="10566433" cy="442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812766"/>
            <a:ext cx="10566466" cy="50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1620522"/>
            <a:ext cx="10566433" cy="442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07000"/>
            <a:ext cx="12192000" cy="1651000"/>
          </a:xfrm>
          <a:prstGeom prst="rect">
            <a:avLst/>
          </a:prstGeom>
          <a:solidFill>
            <a:srgbClr val="0B17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86459"/>
            <a:ext cx="1255776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A9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CASE 15 · SAFEROUTE URBAN MOBILITY LAB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0" y="2838483"/>
            <a:ext cx="12557760" cy="109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F5F2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Road Safety Insight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0" y="4108400"/>
            <a:ext cx="1255776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D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Where and when serious incidents occur, and what to fix first.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767" y="5448267"/>
            <a:ext cx="10883374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Business pitch · Round 4 | [Your name · Register no. · Class]</a:t>
            </a:r>
            <a:endParaRPr lang="en-US" sz="1400" dirty="0"/>
          </a:p>
        </p:txBody>
      </p:sp>
      <p:pic>
        <p:nvPicPr>
          <p:cNvPr id="7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67" y="6159500"/>
            <a:ext cx="10566383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558767"/>
            <a:ext cx="609534" cy="5076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67" y="812767"/>
            <a:ext cx="10883460" cy="584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Two in three incidents end in serious harm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5942" y="1679476"/>
            <a:ext cx="3383872" cy="1990427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6350">
            <a:solidFill>
              <a:srgbClr val="E0DB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059" y="1935592"/>
            <a:ext cx="2957788" cy="87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5,965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072059" y="2865107"/>
            <a:ext cx="2957788" cy="57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incidents analysed across five linked datasets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9314" y="1679476"/>
            <a:ext cx="3383955" cy="1990427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6350">
            <a:solidFill>
              <a:srgbClr val="E0DB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5431" y="1935592"/>
            <a:ext cx="2957873" cy="87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120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665431" y="2865107"/>
            <a:ext cx="3124663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roads with recorded incidents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9594" y="1676301"/>
            <a:ext cx="3379639" cy="1996777"/>
          </a:xfrm>
          <a:prstGeom prst="roundRect">
            <a:avLst>
              <a:gd name="adj" fmla="val 5088"/>
            </a:avLst>
          </a:prstGeom>
          <a:solidFill>
            <a:srgbClr val="10202E"/>
          </a:solidFill>
          <a:ln/>
        </p:spPr>
      </p:sp>
      <p:sp>
        <p:nvSpPr>
          <p:cNvPr id="11" name="Text 9"/>
          <p:cNvSpPr/>
          <p:nvPr/>
        </p:nvSpPr>
        <p:spPr>
          <a:xfrm>
            <a:off x="8253594" y="1930301"/>
            <a:ext cx="2957788" cy="87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F2A9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67.7%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253594" y="2859815"/>
            <a:ext cx="2957788" cy="57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were Serious or Fatal; 22.5% were Fatal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767" y="3977845"/>
            <a:ext cx="10883460" cy="594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was cleaned in Python (duplicates, invalid severity, missing locations and weather) and analysed in Excel with formulas, Pivot Tables and charts.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 Safety Insight · SafeRoute Urban Mobility Lab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3433" y="6238295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558766"/>
            <a:ext cx="609534" cy="5076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Volume peaks at rush hour, severity peaks at night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1523916"/>
            <a:ext cx="152383" cy="152383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5" name="Text 3"/>
          <p:cNvSpPr/>
          <p:nvPr/>
        </p:nvSpPr>
        <p:spPr>
          <a:xfrm>
            <a:off x="1041301" y="1493490"/>
            <a:ext cx="16774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Night (22:00–04:59)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18759" y="1523916"/>
            <a:ext cx="152383" cy="152383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/>
          <p:nvPr/>
        </p:nvSpPr>
        <p:spPr>
          <a:xfrm>
            <a:off x="2947293" y="1493490"/>
            <a:ext cx="22487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Rush hour (7–9 AM, 5–7 PM)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96086" y="1523916"/>
            <a:ext cx="152383" cy="152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5424620" y="1493490"/>
            <a:ext cx="10085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Other hours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19085" y="1493490"/>
            <a:ext cx="25657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Bars: incidents per hour of day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767" y="3268926"/>
            <a:ext cx="361900" cy="393650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12" name="Shape 10"/>
          <p:cNvSpPr/>
          <p:nvPr/>
        </p:nvSpPr>
        <p:spPr>
          <a:xfrm>
            <a:off x="1250818" y="3503826"/>
            <a:ext cx="361900" cy="158750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13" name="Shape 11"/>
          <p:cNvSpPr/>
          <p:nvPr/>
        </p:nvSpPr>
        <p:spPr>
          <a:xfrm>
            <a:off x="1688868" y="3478443"/>
            <a:ext cx="361900" cy="184133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14" name="Shape 12"/>
          <p:cNvSpPr/>
          <p:nvPr/>
        </p:nvSpPr>
        <p:spPr>
          <a:xfrm>
            <a:off x="2126919" y="3522926"/>
            <a:ext cx="361900" cy="139650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4970" y="3491176"/>
            <a:ext cx="361900" cy="171400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16" name="Shape 14"/>
          <p:cNvSpPr/>
          <p:nvPr/>
        </p:nvSpPr>
        <p:spPr>
          <a:xfrm>
            <a:off x="3003021" y="3326061"/>
            <a:ext cx="361900" cy="3365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7" name="Shape 15"/>
          <p:cNvSpPr/>
          <p:nvPr/>
        </p:nvSpPr>
        <p:spPr>
          <a:xfrm>
            <a:off x="3441071" y="2951426"/>
            <a:ext cx="361900" cy="71115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8" name="Shape 16"/>
          <p:cNvSpPr/>
          <p:nvPr/>
        </p:nvSpPr>
        <p:spPr>
          <a:xfrm>
            <a:off x="3879122" y="2405311"/>
            <a:ext cx="361900" cy="125726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317173" y="2068793"/>
            <a:ext cx="361900" cy="159378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5224" y="2608543"/>
            <a:ext cx="361900" cy="105403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Shape 19"/>
          <p:cNvSpPr/>
          <p:nvPr/>
        </p:nvSpPr>
        <p:spPr>
          <a:xfrm>
            <a:off x="5193274" y="2919676"/>
            <a:ext cx="361900" cy="74290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2" name="Shape 20"/>
          <p:cNvSpPr/>
          <p:nvPr/>
        </p:nvSpPr>
        <p:spPr>
          <a:xfrm>
            <a:off x="5631325" y="2938693"/>
            <a:ext cx="361900" cy="7238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69376" y="2799043"/>
            <a:ext cx="361900" cy="863534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4" name="Shape 22"/>
          <p:cNvSpPr/>
          <p:nvPr/>
        </p:nvSpPr>
        <p:spPr>
          <a:xfrm>
            <a:off x="6507427" y="2970443"/>
            <a:ext cx="361900" cy="69213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5478" y="2983176"/>
            <a:ext cx="361900" cy="67940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6" name="Shape 24"/>
          <p:cNvSpPr/>
          <p:nvPr/>
        </p:nvSpPr>
        <p:spPr>
          <a:xfrm>
            <a:off x="7383528" y="2818061"/>
            <a:ext cx="361900" cy="8445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7" name="Shape 25"/>
          <p:cNvSpPr/>
          <p:nvPr/>
        </p:nvSpPr>
        <p:spPr>
          <a:xfrm>
            <a:off x="7821579" y="2506926"/>
            <a:ext cx="361900" cy="115565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8" name="Shape 26"/>
          <p:cNvSpPr/>
          <p:nvPr/>
        </p:nvSpPr>
        <p:spPr>
          <a:xfrm>
            <a:off x="8259630" y="1910043"/>
            <a:ext cx="361900" cy="175253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9" name="Shape 27"/>
          <p:cNvSpPr/>
          <p:nvPr/>
        </p:nvSpPr>
        <p:spPr>
          <a:xfrm>
            <a:off x="8697681" y="1884576"/>
            <a:ext cx="361900" cy="17780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9135732" y="2183061"/>
            <a:ext cx="361900" cy="147951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573782" y="2614826"/>
            <a:ext cx="361900" cy="104775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11833" y="2691061"/>
            <a:ext cx="361900" cy="9715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49884" y="2919676"/>
            <a:ext cx="361900" cy="742900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87935" y="3135561"/>
            <a:ext cx="361900" cy="527017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35" name="Text 33"/>
          <p:cNvSpPr/>
          <p:nvPr/>
        </p:nvSpPr>
        <p:spPr>
          <a:xfrm>
            <a:off x="787367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25418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63468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101519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39570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977621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15671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853722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91773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29824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7874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05925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43976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82027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20078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58128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96179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34230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672281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110332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19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548382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986433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424484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22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862535" y="3840344"/>
            <a:ext cx="41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23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12767" y="4231432"/>
            <a:ext cx="5176325" cy="848734"/>
          </a:xfrm>
          <a:prstGeom prst="roundRect">
            <a:avLst>
              <a:gd name="adj" fmla="val 11971"/>
            </a:avLst>
          </a:prstGeom>
          <a:solidFill>
            <a:srgbClr val="10202E"/>
          </a:solidFill>
          <a:ln/>
        </p:spPr>
      </p:sp>
      <p:sp>
        <p:nvSpPr>
          <p:cNvPr id="60" name="Text 58"/>
          <p:cNvSpPr/>
          <p:nvPr/>
        </p:nvSpPr>
        <p:spPr>
          <a:xfrm>
            <a:off x="1015917" y="4389106"/>
            <a:ext cx="1574800" cy="55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A9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84.5%</a:t>
            </a:r>
            <a:endParaRPr lang="en-US" sz="4000" dirty="0"/>
          </a:p>
        </p:txBody>
      </p:sp>
      <p:sp>
        <p:nvSpPr>
          <p:cNvPr id="61" name="Text 59"/>
          <p:cNvSpPr/>
          <p:nvPr/>
        </p:nvSpPr>
        <p:spPr>
          <a:xfrm>
            <a:off x="2717684" y="4415813"/>
            <a:ext cx="3160305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 night incidents are Serious or Fatal, vs 65.5% by day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195417" y="4234607"/>
            <a:ext cx="5180641" cy="842384"/>
          </a:xfrm>
          <a:prstGeom prst="roundRect">
            <a:avLst>
              <a:gd name="adj" fmla="val 11684"/>
            </a:avLst>
          </a:prstGeom>
          <a:solidFill>
            <a:srgbClr val="FFFFFF"/>
          </a:solidFill>
          <a:ln w="6350">
            <a:solidFill>
              <a:srgbClr val="E0DBC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684" y="4389106"/>
            <a:ext cx="1574800" cy="55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44.6%</a:t>
            </a:r>
            <a:endParaRPr lang="en-US" sz="4000" dirty="0"/>
          </a:p>
        </p:txBody>
      </p:sp>
      <p:sp>
        <p:nvSpPr>
          <p:cNvPr id="64" name="Text 62"/>
          <p:cNvSpPr/>
          <p:nvPr/>
        </p:nvSpPr>
        <p:spPr>
          <a:xfrm>
            <a:off x="8102451" y="4415813"/>
            <a:ext cx="3160390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 all incidents fall in just six rush hours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 Safety Insight · SafeRoute Urban Mobility Lab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0693433" y="6238295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558766"/>
            <a:ext cx="609534" cy="5076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Junctions and high-speed roads carry the highest risk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2" y="1572898"/>
            <a:ext cx="6046986" cy="2945408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6350">
            <a:solidFill>
              <a:srgbClr val="E0DB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059" y="1829014"/>
            <a:ext cx="5700795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Severe rate by road type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2059" y="2270951"/>
            <a:ext cx="1384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Expressway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32559" y="2255738"/>
            <a:ext cx="3312252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8" name="Shape 6"/>
          <p:cNvSpPr/>
          <p:nvPr/>
        </p:nvSpPr>
        <p:spPr>
          <a:xfrm>
            <a:off x="2532559" y="2255738"/>
            <a:ext cx="3312252" cy="279383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9" name="Text 7"/>
          <p:cNvSpPr/>
          <p:nvPr/>
        </p:nvSpPr>
        <p:spPr>
          <a:xfrm>
            <a:off x="5921011" y="2270951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93.1%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2059" y="2702719"/>
            <a:ext cx="1384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Highway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32559" y="2687504"/>
            <a:ext cx="3312252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12" name="Shape 10"/>
          <p:cNvSpPr/>
          <p:nvPr/>
        </p:nvSpPr>
        <p:spPr>
          <a:xfrm>
            <a:off x="2532559" y="2687504"/>
            <a:ext cx="3312252" cy="279383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13" name="Text 11"/>
          <p:cNvSpPr/>
          <p:nvPr/>
        </p:nvSpPr>
        <p:spPr>
          <a:xfrm>
            <a:off x="5921011" y="2702719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90.3%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2059" y="3134485"/>
            <a:ext cx="1384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Arterial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32559" y="3119272"/>
            <a:ext cx="3312252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16" name="Shape 14"/>
          <p:cNvSpPr/>
          <p:nvPr/>
        </p:nvSpPr>
        <p:spPr>
          <a:xfrm>
            <a:off x="2532559" y="3119272"/>
            <a:ext cx="3312252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7" name="Text 15"/>
          <p:cNvSpPr/>
          <p:nvPr/>
        </p:nvSpPr>
        <p:spPr>
          <a:xfrm>
            <a:off x="5921011" y="3134485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69.6%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2059" y="3566252"/>
            <a:ext cx="1384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Collector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32559" y="3551039"/>
            <a:ext cx="3312252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20" name="Shape 18"/>
          <p:cNvSpPr/>
          <p:nvPr/>
        </p:nvSpPr>
        <p:spPr>
          <a:xfrm>
            <a:off x="2532559" y="3551039"/>
            <a:ext cx="3312252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1" name="Text 19"/>
          <p:cNvSpPr/>
          <p:nvPr/>
        </p:nvSpPr>
        <p:spPr>
          <a:xfrm>
            <a:off x="5921011" y="3566252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68.3%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2059" y="3998020"/>
            <a:ext cx="1384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Local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32559" y="3982805"/>
            <a:ext cx="3312252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24" name="Shape 22"/>
          <p:cNvSpPr/>
          <p:nvPr/>
        </p:nvSpPr>
        <p:spPr>
          <a:xfrm>
            <a:off x="2532559" y="3982805"/>
            <a:ext cx="3312252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5" name="Text 23"/>
          <p:cNvSpPr/>
          <p:nvPr/>
        </p:nvSpPr>
        <p:spPr>
          <a:xfrm>
            <a:off x="5921011" y="3998020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41.0%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74044" y="1572898"/>
            <a:ext cx="4202013" cy="2945408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6350">
            <a:solidFill>
              <a:srgbClr val="E0DB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0161" y="1829014"/>
            <a:ext cx="3800473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Junction effect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30161" y="2270951"/>
            <a:ext cx="1511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Junction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17661" y="2255738"/>
            <a:ext cx="1340280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30" name="Shape 28"/>
          <p:cNvSpPr/>
          <p:nvPr/>
        </p:nvSpPr>
        <p:spPr>
          <a:xfrm>
            <a:off x="9017661" y="2255738"/>
            <a:ext cx="1340280" cy="279383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31" name="Text 29"/>
          <p:cNvSpPr/>
          <p:nvPr/>
        </p:nvSpPr>
        <p:spPr>
          <a:xfrm>
            <a:off x="10434141" y="2270951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82.1%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30161" y="2702719"/>
            <a:ext cx="1511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Non-junction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017661" y="2687504"/>
            <a:ext cx="1340280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34" name="Shape 32"/>
          <p:cNvSpPr/>
          <p:nvPr/>
        </p:nvSpPr>
        <p:spPr>
          <a:xfrm>
            <a:off x="9017661" y="2687504"/>
            <a:ext cx="1340280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35" name="Text 33"/>
          <p:cNvSpPr/>
          <p:nvPr/>
        </p:nvSpPr>
        <p:spPr>
          <a:xfrm>
            <a:off x="10434141" y="2702719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55.0%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30161" y="3119272"/>
            <a:ext cx="3800473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47.1% of all incidents happen at junctions.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2767" y="4775481"/>
            <a:ext cx="10883460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Severe rate = share of incidents that were Serious or Fatal (overall 67.7%). Highways and expressways hold 26.6% of incidents but are over 90% severe.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 Safety Insight · SafeRoute Urban Mobility Lab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693433" y="6238295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558766"/>
            <a:ext cx="609534" cy="5076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15 roads hold 41% of serious and fatal incidents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1569721"/>
            <a:ext cx="3429000" cy="2947045"/>
          </a:xfrm>
          <a:prstGeom prst="roundRect">
            <a:avLst>
              <a:gd name="adj" fmla="val 3448"/>
            </a:avLst>
          </a:prstGeom>
          <a:solidFill>
            <a:srgbClr val="10202E"/>
          </a:solidFill>
          <a:ln/>
        </p:spPr>
      </p:sp>
      <p:sp>
        <p:nvSpPr>
          <p:cNvPr id="5" name="Text 3"/>
          <p:cNvSpPr/>
          <p:nvPr/>
        </p:nvSpPr>
        <p:spPr>
          <a:xfrm>
            <a:off x="1066767" y="1772872"/>
            <a:ext cx="3008630" cy="50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2A9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15 of 120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66767" y="2329076"/>
            <a:ext cx="3008630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roads, 12.5% of the network, carry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767" y="2645172"/>
            <a:ext cx="3008630" cy="50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5F2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33.6%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66767" y="3201374"/>
            <a:ext cx="3008630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 all incidents 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6767" y="3517469"/>
            <a:ext cx="3008630" cy="50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2A9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41.0%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66767" y="4073674"/>
            <a:ext cx="3008630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 all serious and fatal incidents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57117" y="1580305"/>
          <a:ext cx="6822116" cy="2623840"/>
        </p:xfrm>
        <a:graphic>
          <a:graphicData uri="http://schemas.openxmlformats.org/drawingml/2006/table">
            <a:tbl>
              <a:tblPr/>
              <a:tblGrid>
                <a:gridCol w="1500865"/>
                <a:gridCol w="1773750"/>
                <a:gridCol w="1637308"/>
                <a:gridCol w="1910192"/>
              </a:tblGrid>
              <a:tr h="43730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Road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Incidents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Severe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Severe rate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E"/>
                    </a:solidFill>
                  </a:tcPr>
                </a:tc>
              </a:tr>
              <a:tr h="43730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R050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172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172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840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100.0%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30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R032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168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161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840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95.8%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43730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R096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149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144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840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96.6%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30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R097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145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144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840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99.3%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43730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R037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142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141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840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99.3%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46534" y="4331146"/>
            <a:ext cx="7037680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Top 5 of the 15 hotspot roads, ranked by serious and fatal incidents. Severe = Serious or Fatal.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 Safety Insight · SafeRoute Urban Mobility Lab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693433" y="6238295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558766"/>
            <a:ext cx="609534" cy="5076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Fog and storms are the most dangerous conditions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2" y="1572896"/>
            <a:ext cx="6358119" cy="3300776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 w="6350">
            <a:solidFill>
              <a:srgbClr val="E0DB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059" y="1829014"/>
            <a:ext cx="6021262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Severe rate by weather condition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2059" y="2258219"/>
            <a:ext cx="1130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78559" y="2243004"/>
            <a:ext cx="38773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8" name="Shape 6"/>
          <p:cNvSpPr/>
          <p:nvPr/>
        </p:nvSpPr>
        <p:spPr>
          <a:xfrm>
            <a:off x="2278559" y="2243004"/>
            <a:ext cx="3877386" cy="279383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9" name="Text 7"/>
          <p:cNvSpPr/>
          <p:nvPr/>
        </p:nvSpPr>
        <p:spPr>
          <a:xfrm>
            <a:off x="6232144" y="2258219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89.6%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2059" y="2677251"/>
            <a:ext cx="1130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78559" y="2662039"/>
            <a:ext cx="38773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12" name="Shape 10"/>
          <p:cNvSpPr/>
          <p:nvPr/>
        </p:nvSpPr>
        <p:spPr>
          <a:xfrm>
            <a:off x="2278559" y="2662039"/>
            <a:ext cx="3877386" cy="279383"/>
          </a:xfrm>
          <a:prstGeom prst="rect">
            <a:avLst/>
          </a:prstGeom>
          <a:solidFill>
            <a:srgbClr val="C8402A"/>
          </a:solidFill>
          <a:ln/>
        </p:spPr>
      </p:sp>
      <p:sp>
        <p:nvSpPr>
          <p:cNvPr id="13" name="Text 11"/>
          <p:cNvSpPr/>
          <p:nvPr/>
        </p:nvSpPr>
        <p:spPr>
          <a:xfrm>
            <a:off x="6232144" y="2677251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85.6%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2059" y="3096285"/>
            <a:ext cx="1130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78559" y="3081071"/>
            <a:ext cx="38773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16" name="Shape 14"/>
          <p:cNvSpPr/>
          <p:nvPr/>
        </p:nvSpPr>
        <p:spPr>
          <a:xfrm>
            <a:off x="2278559" y="3081071"/>
            <a:ext cx="38773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7" name="Text 15"/>
          <p:cNvSpPr/>
          <p:nvPr/>
        </p:nvSpPr>
        <p:spPr>
          <a:xfrm>
            <a:off x="6232144" y="3096285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74.2%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2059" y="3515320"/>
            <a:ext cx="1130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Unknown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78559" y="3500106"/>
            <a:ext cx="38773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20" name="Shape 18"/>
          <p:cNvSpPr/>
          <p:nvPr/>
        </p:nvSpPr>
        <p:spPr>
          <a:xfrm>
            <a:off x="2278559" y="3500106"/>
            <a:ext cx="38773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1" name="Text 19"/>
          <p:cNvSpPr/>
          <p:nvPr/>
        </p:nvSpPr>
        <p:spPr>
          <a:xfrm>
            <a:off x="6232144" y="3515320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64.2%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2059" y="3934352"/>
            <a:ext cx="1130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78559" y="3919141"/>
            <a:ext cx="38773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24" name="Shape 22"/>
          <p:cNvSpPr/>
          <p:nvPr/>
        </p:nvSpPr>
        <p:spPr>
          <a:xfrm>
            <a:off x="2278559" y="3919141"/>
            <a:ext cx="38773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5" name="Text 23"/>
          <p:cNvSpPr/>
          <p:nvPr/>
        </p:nvSpPr>
        <p:spPr>
          <a:xfrm>
            <a:off x="6232144" y="3934352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62.2%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2059" y="4353387"/>
            <a:ext cx="1130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Cloudy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78559" y="4338172"/>
            <a:ext cx="38773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28" name="Shape 26"/>
          <p:cNvSpPr/>
          <p:nvPr/>
        </p:nvSpPr>
        <p:spPr>
          <a:xfrm>
            <a:off x="2278559" y="4338172"/>
            <a:ext cx="38773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9" name="Text 27"/>
          <p:cNvSpPr/>
          <p:nvPr/>
        </p:nvSpPr>
        <p:spPr>
          <a:xfrm>
            <a:off x="6232144" y="4353387"/>
            <a:ext cx="6858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61.1%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82003" y="1569721"/>
            <a:ext cx="3897230" cy="1470339"/>
          </a:xfrm>
          <a:prstGeom prst="roundRect">
            <a:avLst>
              <a:gd name="adj" fmla="val 6910"/>
            </a:avLst>
          </a:prstGeom>
          <a:solidFill>
            <a:srgbClr val="10202E"/>
          </a:solidFill>
          <a:ln/>
        </p:spPr>
      </p:sp>
      <p:sp>
        <p:nvSpPr>
          <p:cNvPr id="31" name="Text 29"/>
          <p:cNvSpPr/>
          <p:nvPr/>
        </p:nvSpPr>
        <p:spPr>
          <a:xfrm>
            <a:off x="7710537" y="1772872"/>
            <a:ext cx="3543367" cy="55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A9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40.4%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7710537" y="2357022"/>
            <a:ext cx="3543367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 fog incidents are fatal, vs 18.2% in clear weather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85178" y="3195619"/>
            <a:ext cx="3890880" cy="1474572"/>
          </a:xfrm>
          <a:prstGeom prst="roundRect">
            <a:avLst>
              <a:gd name="adj" fmla="val 6675"/>
            </a:avLst>
          </a:prstGeom>
          <a:solidFill>
            <a:srgbClr val="FFFFFF"/>
          </a:solidFill>
          <a:ln w="6350">
            <a:solidFill>
              <a:srgbClr val="E0DB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15828" y="3400887"/>
            <a:ext cx="3532466" cy="55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-0.03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7715828" y="3985037"/>
            <a:ext cx="3532466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correlation of traffic volume with severity: congestion is not the driver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 Safety Insight · SafeRoute Urban Mobility Lab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693433" y="6238295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558766"/>
            <a:ext cx="609534" cy="5076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67" y="812766"/>
            <a:ext cx="10883460" cy="103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Visibility, traffic and road history are the strongest signals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2" y="2075855"/>
            <a:ext cx="6358119" cy="3300776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 w="6350">
            <a:solidFill>
              <a:srgbClr val="E0DB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059" y="2331969"/>
            <a:ext cx="6021262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Random Forest: top drivers of severity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2059" y="2761174"/>
            <a:ext cx="2289175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Visibility (km)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1559" y="2745960"/>
            <a:ext cx="27978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8" name="Shape 6"/>
          <p:cNvSpPr/>
          <p:nvPr/>
        </p:nvSpPr>
        <p:spPr>
          <a:xfrm>
            <a:off x="3421559" y="2745960"/>
            <a:ext cx="27978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6295644" y="2761174"/>
            <a:ext cx="622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0.110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2059" y="3180209"/>
            <a:ext cx="2289175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Traffic volume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1559" y="3164994"/>
            <a:ext cx="27978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1559" y="3164994"/>
            <a:ext cx="27978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3" name="Text 11"/>
          <p:cNvSpPr/>
          <p:nvPr/>
        </p:nvSpPr>
        <p:spPr>
          <a:xfrm>
            <a:off x="6295644" y="3180209"/>
            <a:ext cx="622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0.108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2059" y="3599241"/>
            <a:ext cx="2289175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 incident history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1559" y="3584029"/>
            <a:ext cx="27978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1559" y="3584029"/>
            <a:ext cx="27978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7" name="Text 15"/>
          <p:cNvSpPr/>
          <p:nvPr/>
        </p:nvSpPr>
        <p:spPr>
          <a:xfrm>
            <a:off x="6295644" y="3599241"/>
            <a:ext cx="622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0.081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2059" y="4018276"/>
            <a:ext cx="2289175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Month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1559" y="4003061"/>
            <a:ext cx="27978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1559" y="4003061"/>
            <a:ext cx="27978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1" name="Text 19"/>
          <p:cNvSpPr/>
          <p:nvPr/>
        </p:nvSpPr>
        <p:spPr>
          <a:xfrm>
            <a:off x="6295644" y="4018276"/>
            <a:ext cx="622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0.075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2059" y="4437311"/>
            <a:ext cx="2289175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Speed limit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21559" y="4422096"/>
            <a:ext cx="27978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1559" y="4422096"/>
            <a:ext cx="27978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5" name="Text 23"/>
          <p:cNvSpPr/>
          <p:nvPr/>
        </p:nvSpPr>
        <p:spPr>
          <a:xfrm>
            <a:off x="6295644" y="4437311"/>
            <a:ext cx="622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0.071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2059" y="4856342"/>
            <a:ext cx="2289175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Hour of day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1559" y="4841131"/>
            <a:ext cx="2797886" cy="279383"/>
          </a:xfrm>
          <a:prstGeom prst="rect">
            <a:avLst/>
          </a:prstGeom>
          <a:solidFill>
            <a:srgbClr val="E4DFD3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1559" y="4841131"/>
            <a:ext cx="2797886" cy="279383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9" name="Text 27"/>
          <p:cNvSpPr/>
          <p:nvPr/>
        </p:nvSpPr>
        <p:spPr>
          <a:xfrm>
            <a:off x="6295644" y="4856342"/>
            <a:ext cx="62230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2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0.067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82003" y="2072680"/>
            <a:ext cx="3897230" cy="1470339"/>
          </a:xfrm>
          <a:prstGeom prst="roundRect">
            <a:avLst>
              <a:gd name="adj" fmla="val 6910"/>
            </a:avLst>
          </a:prstGeom>
          <a:solidFill>
            <a:srgbClr val="10202E"/>
          </a:solidFill>
          <a:ln/>
        </p:spPr>
      </p:sp>
      <p:sp>
        <p:nvSpPr>
          <p:cNvPr id="31" name="Text 29"/>
          <p:cNvSpPr/>
          <p:nvPr/>
        </p:nvSpPr>
        <p:spPr>
          <a:xfrm>
            <a:off x="7710537" y="2275830"/>
            <a:ext cx="3543367" cy="55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A9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54%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7710537" y="2859980"/>
            <a:ext cx="3543367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accuracy on three severity classes, vs 45% from always guessing Serious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85178" y="3698577"/>
            <a:ext cx="3890880" cy="1474572"/>
          </a:xfrm>
          <a:prstGeom prst="roundRect">
            <a:avLst>
              <a:gd name="adj" fmla="val 6675"/>
            </a:avLst>
          </a:prstGeom>
          <a:solidFill>
            <a:srgbClr val="FFFFFF"/>
          </a:solidFill>
          <a:ln w="6350">
            <a:solidFill>
              <a:srgbClr val="E0DB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15828" y="3903842"/>
            <a:ext cx="3532466" cy="55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0.54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7715828" y="4487993"/>
            <a:ext cx="3532466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weighted F1 (5-fold): a screening aid for ranking risk, not an automatic decision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 Safety Insight · SafeRoute Urban Mobility Lab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693433" y="6238295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558766"/>
            <a:ext cx="609534" cy="5076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67" y="812766"/>
            <a:ext cx="10883460" cy="584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5F2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Four actions, each tied to evidence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767" y="1625532"/>
            <a:ext cx="5181616" cy="1491837"/>
          </a:xfrm>
          <a:prstGeom prst="roundRect">
            <a:avLst>
              <a:gd name="adj" fmla="val 6810"/>
            </a:avLst>
          </a:prstGeom>
          <a:solidFill>
            <a:srgbClr val="1B3246"/>
          </a:solidFill>
          <a:ln/>
        </p:spPr>
      </p:sp>
      <p:sp>
        <p:nvSpPr>
          <p:cNvPr id="5" name="Text 3"/>
          <p:cNvSpPr/>
          <p:nvPr/>
        </p:nvSpPr>
        <p:spPr>
          <a:xfrm>
            <a:off x="1015917" y="1803301"/>
            <a:ext cx="4918575" cy="31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 · Fix junctions first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15917" y="2156271"/>
            <a:ext cx="4918575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2A9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82.1% severe at junctions vs 55.0% elsewhere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5917" y="2459713"/>
            <a:ext cx="4918575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signal timing, layout and sightlines at hotspot junctions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7534" y="1625532"/>
            <a:ext cx="5181699" cy="1491837"/>
          </a:xfrm>
          <a:prstGeom prst="roundRect">
            <a:avLst>
              <a:gd name="adj" fmla="val 6810"/>
            </a:avLst>
          </a:prstGeom>
          <a:solidFill>
            <a:srgbClr val="1B32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684" y="1803301"/>
            <a:ext cx="4918660" cy="31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 · Treat the 15 hotspot roads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684" y="2156271"/>
            <a:ext cx="4918660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2A9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 of 120 roads hold 41% of serious incidents; start with R050, R032, R096, R097, R037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684" y="2699658"/>
            <a:ext cx="4978549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Run engineering audits and track monthly incident counts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67" y="3320520"/>
            <a:ext cx="5181616" cy="1731781"/>
          </a:xfrm>
          <a:prstGeom prst="roundRect">
            <a:avLst>
              <a:gd name="adj" fmla="val 5867"/>
            </a:avLst>
          </a:prstGeom>
          <a:solidFill>
            <a:srgbClr val="1B3246"/>
          </a:solidFill>
          <a:ln/>
        </p:spPr>
      </p:sp>
      <p:sp>
        <p:nvSpPr>
          <p:cNvPr id="13" name="Text 11"/>
          <p:cNvSpPr/>
          <p:nvPr/>
        </p:nvSpPr>
        <p:spPr>
          <a:xfrm>
            <a:off x="1015917" y="3498286"/>
            <a:ext cx="4918575" cy="31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 · Make nights safer on fast roads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15917" y="3851256"/>
            <a:ext cx="4918575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2A9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84.5% severe at night; expressways 93.1%, highways 90.3%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5917" y="4394646"/>
            <a:ext cx="4918575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lighting and speed enforcement; review night-time limits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7534" y="3320520"/>
            <a:ext cx="5181699" cy="1731781"/>
          </a:xfrm>
          <a:prstGeom prst="roundRect">
            <a:avLst>
              <a:gd name="adj" fmla="val 5867"/>
            </a:avLst>
          </a:prstGeom>
          <a:solidFill>
            <a:srgbClr val="1B324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684" y="3498286"/>
            <a:ext cx="4918660" cy="314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 · Warn drivers in fog and storms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684" y="3851256"/>
            <a:ext cx="4918660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2A9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Fog 89.6% and storm 85.6% severe; 40.4% of fog incidents fatal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684" y="4394646"/>
            <a:ext cx="4918660" cy="50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Install weather-triggered warnings and variable speed limits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767" y="6238292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 Safety Insight · SafeRoute Urban Mobility 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3433" y="6238292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558763"/>
            <a:ext cx="609534" cy="50767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67" y="812763"/>
            <a:ext cx="10883460" cy="584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02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management should focus first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1636115"/>
          <a:ext cx="10555883" cy="2167930"/>
        </p:xfrm>
        <a:graphic>
          <a:graphicData uri="http://schemas.openxmlformats.org/drawingml/2006/table">
            <a:tbl>
              <a:tblPr/>
              <a:tblGrid>
                <a:gridCol w="3377882"/>
                <a:gridCol w="4011235"/>
                <a:gridCol w="3166765"/>
              </a:tblGrid>
              <a:tr h="3838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Focus area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Evidence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KPI to track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E"/>
                    </a:solidFill>
                  </a:tcPr>
                </a:tc>
              </a:tr>
              <a:tr h="63268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Hotspot roads R050, R032, R096, R097, R037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Nearly every incident is serious or fatal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Severe incidents per road per month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8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Junctions (47.1% of incidents)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82.1% severe vs 55.0% elsewhere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Severe rate at junctions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3838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Expressways and highways at night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93.1% and 90.3% severe; 84.5% at night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Night-time severe incidents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8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Fog and storm conditions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89.6% and 85.6% severe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Fatal share in low visibility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67" y="4058047"/>
            <a:ext cx="10883460" cy="24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Findings come from the challenge dataset; validate them against live incident records before rollout.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767" y="6238292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Road Safety Insight · SafeRoute Urban Mobility Lab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693433" y="6238292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 Safety Insight Pitch">
  <a:themeElements>
    <a:clrScheme name="Road Safety Insight Pitch">
      <a:dk1>
        <a:srgbClr val="10202E"/>
      </a:dk1>
      <a:lt1>
        <a:srgbClr val="F5F2EA"/>
      </a:lt1>
      <a:dk2>
        <a:srgbClr val="49555D"/>
      </a:dk2>
      <a:lt2>
        <a:srgbClr val="DEDDD7"/>
      </a:lt2>
      <a:accent1>
        <a:srgbClr val="2F6F8F"/>
      </a:accent1>
      <a:accent2>
        <a:srgbClr val="F2A900"/>
      </a:accent2>
      <a:accent3>
        <a:srgbClr val="C8402A"/>
      </a:accent3>
      <a:accent4>
        <a:srgbClr val="3D4852"/>
      </a:accent4>
      <a:accent5>
        <a:srgbClr val="5B6670"/>
      </a:accent5>
      <a:accent6>
        <a:srgbClr val="C9D3DB"/>
      </a:accent6>
      <a:hlink>
        <a:srgbClr val="0563C1"/>
      </a:hlink>
      <a:folHlink>
        <a:srgbClr val="954F72"/>
      </a:folHlink>
    </a:clrScheme>
    <a:fontScheme name="Road Safety Insight Pitch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Safety Insight Pitch</dc:title>
  <dc:subject/>
  <dc:creator/>
  <cp:lastModifiedBy/>
  <cp:revision>1</cp:revision>
  <dcterms:created xsi:type="dcterms:W3CDTF">2026-10-13T06:51:58Z</dcterms:created>
  <dcterms:modified xsi:type="dcterms:W3CDTF">2026-10-13T06:51:58Z</dcterms:modified>
</cp:coreProperties>
</file>